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6858000" cy="9902952"/>
  <p:notesSz cx="9902952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RAIT_CONTEN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13816"/>
            <a:ext cx="5861304" cy="8677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491472"/>
            <a:ext cx="181051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13432" y="9491472"/>
            <a:ext cx="26334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46904" y="9491472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NDSCAPE_CONTEN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137160"/>
            <a:ext cx="548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85800"/>
            <a:ext cx="8229600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09360"/>
            <a:ext cx="2423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6309360"/>
            <a:ext cx="3383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6309360"/>
            <a:ext cx="2423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image" Target="../media/image-39-5.png"/><Relationship Id="rId6" Type="http://schemas.openxmlformats.org/officeDocument/2006/relationships/image" Target="../media/image-39-6.svg"/><Relationship Id="rId7" Type="http://schemas.openxmlformats.org/officeDocument/2006/relationships/image" Target="../media/image-39-7.png"/><Relationship Id="rId8" Type="http://schemas.openxmlformats.org/officeDocument/2006/relationships/image" Target="../media/image-3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"/>
            <a:ext cx="2788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技术文档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961181"/>
            <a:ext cx="5486400" cy="1980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Markdown to PPT 功能测试文档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基础格式测试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内联格式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54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这是一段包含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加粗文本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斜体文本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pPr indent="0" marL="0">
              <a:buNone/>
            </a:pPr>
            <a:r>
              <a:rPr lang="en-US" sz="1200" b="1" i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加粗斜体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和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行内代码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的测试段落。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基础格式测试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转义字符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这里测试转义：*不是斜体*，`不是代码`，[不是链接]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基础格式测试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 中英文混排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This is English text mixed with 中文文本，用于测试 CJK 字符的处理和宽度计算。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基础格式测试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1.4 Markdown 链接处理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【文本中的链接】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769864" cy="54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这是一段包含链接的文本，请访问 </a:t>
            </a:r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了解更多信息。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1770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【列表中的链接】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29180"/>
            <a:ext cx="5586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访问 GitHub 查看代码仓库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阅读 文档 获取详细说明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下载 安装包 进行安装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10642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【表格中的链接】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17900"/>
          <a:ext cx="5769864" cy="914400"/>
        </p:xfrm>
        <a:graphic>
          <a:graphicData uri="http://schemas.openxmlformats.org/drawingml/2006/table">
            <a:tbl>
              <a:tblPr/>
              <a:tblGrid>
                <a:gridCol w="1923288"/>
                <a:gridCol w="1923288"/>
                <a:gridCol w="1923288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资源名称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链接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GitHub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GitHub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代码托管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Docker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Docker Hub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镜像仓库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npm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npm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包管理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基础格式测试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1.5 超长单词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Thisisaverylongwordwithoutanyspacestotestthewrappingfunctionality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列表测试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2.1 无序列表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5586984" cy="1193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第一级列表项 1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第一级列表项 2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第二级列表项 2.1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第二级列表项 2.2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第一级列表项 3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列表测试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2.2 有序列表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5586984" cy="1193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编号列表项 1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编号列表项 2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编号列表项 3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混合嵌套项 3.1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混合嵌套项 3.2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列表测试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2.3 大量短列表（分页测试）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5586984" cy="830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项1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项2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项3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项4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项5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项6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项7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项8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项9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项10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项11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项12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项13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项14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项15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项16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项17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项18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项19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项20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项21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项22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项23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项24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项25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项26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项27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项28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项29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项30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项31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项32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项33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列表测试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2.3 大量短列表（分页测试）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5586984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项34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项35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项36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项37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项38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项39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项40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项41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项42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项43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项44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项45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5769864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4005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06908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45个短列表项应能够正常分页显示（超过单页33项限制）。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标题层级测试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 三级标题示例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【3.1.1 四级标题】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这是四级标题下的内容。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89100"/>
            <a:ext cx="5769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【3.1.1.1 五级标题】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5486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这是五级标题下的内容，用于测试深层嵌套。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标题层级测试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 空内容过滤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【仅有标题的幻灯片】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769864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353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当一个幻灯片只有标题没有内容时，应被过滤掉避免空白页。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标题层级测试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 独立的二级标题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41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此标题下方若有内容会显示，无内容时不应产生空白幻灯片。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标题层级测试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 无内容的封面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54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关于此功能更详细的说明，请参考相关技术文档。这是一段普通的说明文本，用于验证基本文本渲染功能。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代码块测试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Python 代码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1225296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558698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calculate_sum(a, b):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"""计算两个数的和"""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 + 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测试函数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print(calculate_sum(10, 20))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代码块测试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 JavaScript 代码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55869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greet(name)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`Hello, ${name}!`;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console.log(greet("World"));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代码块测试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HTML 代码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55869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&lt;title&gt;示例页面&lt;/title&gt;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&lt;style&gt;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body { font-family: sans-serif;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&lt;/style&gt;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&lt;h1&gt;Hello World&lt;/h1&gt;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代码块测试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4.4 SQL 代码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1225296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558698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u.name, o.order_id, o.total_amount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users 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orders o ON u.id = o.user_id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'completed'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o.created_at &gt;= '2024-01-01'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o.total_amount DESC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代码块测试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4.5 JSON 代码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55869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"appName": "md-to-ppt",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"version": "1.0.0",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"dependencies":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"pptxgenjs": "^3.12.0",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"mathjax-full": "^3.2.0"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"options":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"layout": "portrait",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"font": "微软雅黑"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代码块测试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4.6 代码块超长截断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【超过10行的代码块】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769864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55869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第1行：这是一个超过10行的长代码块，用于测试截断逻辑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line1 = "第1行"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line2 = "第2行"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line3 = "第3行"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line4 = "第4行"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line5 = "第5行"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line6 = "第6行"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line7 = "第7行"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line8 = "第8行"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line9 = "第9行"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【刚好10行的代码块（边界测试）】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769864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55869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func1():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func2():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func3():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func4():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func5():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func6():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func7():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func8():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func9():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func10(): pass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表格测试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5.1 简单表格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5769864" cy="914400"/>
        </p:xfrm>
        <a:graphic>
          <a:graphicData uri="http://schemas.openxmlformats.org/drawingml/2006/table">
            <a:tbl>
              <a:tblPr/>
              <a:tblGrid>
                <a:gridCol w="1923288"/>
                <a:gridCol w="1923288"/>
                <a:gridCol w="1923288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参数名称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input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输入文件路径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output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输出文件路径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layout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布局类型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表格测试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5.2 复杂表格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5769864" cy="914400"/>
        </p:xfrm>
        <a:graphic>
          <a:graphicData uri="http://schemas.openxmlformats.org/drawingml/2006/table">
            <a:tbl>
              <a:tblPr/>
              <a:tblGrid>
                <a:gridCol w="1442466"/>
                <a:gridCol w="1442466"/>
                <a:gridCol w="1442466"/>
                <a:gridCol w="1442466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功能模块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实现状态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优先级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负责人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配置管理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张三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工具函数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李四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母版管理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王五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Mermaid渲染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赵六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高度计算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钱七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布局引擎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孙八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表格测试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5.3 表格内联格式测试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5769864" cy="914400"/>
        </p:xfrm>
        <a:graphic>
          <a:graphicData uri="http://schemas.openxmlformats.org/drawingml/2006/table">
            <a:tbl>
              <a:tblPr/>
              <a:tblGrid>
                <a:gridCol w="1923288"/>
                <a:gridCol w="1923288"/>
                <a:gridCol w="1923288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格式类型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示例内容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加粗文本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测试加粗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斜体文本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注意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测试斜体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加粗斜体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警告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测试加粗斜体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行内代码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测试代码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混合格式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斜体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代码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测试混合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表格测试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5.4 表格跨页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5769864" cy="914400"/>
        </p:xfrm>
        <a:graphic>
          <a:graphicData uri="http://schemas.openxmlformats.org/drawingml/2006/table">
            <a:tbl>
              <a:tblPr/>
              <a:tblGrid>
                <a:gridCol w="1153973"/>
                <a:gridCol w="1153973"/>
                <a:gridCol w="1153973"/>
                <a:gridCol w="1153973"/>
                <a:gridCol w="1153973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序号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字段名称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长度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INTEGER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主键ID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VARCHAR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用户名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email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VARCHAR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邮箱地址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phone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VARCHAR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手机号码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TINYINT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状态(0=禁用,1=启用)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created_at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DATETIME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创建时间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updated_at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DATETIME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更新时间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deleted_at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DATETIME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删除时间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created_by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INTEGER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创建人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updated_by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INTEGER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更新人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remark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TEXT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备注说明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extra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JSON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扩展字段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73880"/>
            <a:ext cx="5769864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4447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451104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注意：该表格超过12行，应触发跨页分页，且第二页应保留表头行。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6.1 简单流程图（应转为可编辑形状）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626" y="868680"/>
            <a:ext cx="4615891" cy="87754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6.2 中等复杂度流程图（应转为可编辑形状）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1685" y="868680"/>
            <a:ext cx="346377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6.3 复杂流程图（应使用 SVG 图片）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53696" y="868680"/>
            <a:ext cx="195975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6.4 时序图（应转为可编辑形状或 SVG）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626" y="868680"/>
            <a:ext cx="4615891" cy="24641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6.5 类图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626" y="868680"/>
            <a:ext cx="4615891" cy="450960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6.6 状态图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11303" y="868680"/>
            <a:ext cx="364453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6.7 甘特图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626" y="868680"/>
            <a:ext cx="4615891" cy="143657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6.8 饼图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626" y="868680"/>
            <a:ext cx="4615891" cy="368289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6.9 思维导图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626" y="868680"/>
            <a:ext cx="4615891" cy="331104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6.10 渲染降级占位符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41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 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mmdc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不可用或渲染失败时，系统应显示占位符，包含图表类型标识和节点描述信息。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626" y="1399032"/>
            <a:ext cx="4615891" cy="158597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 引述测试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7.1 简单引述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41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这是一段简单的引述内容，用于测试基本功能。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 引述测试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7.2 多行引述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768096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41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52212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这是第一行引述内容。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这是第二行引述内容。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这是第三行引述内容，用于测试多行合并显示。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 引述测试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7.3 引述内联格式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41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这段引述包含 </a:t>
            </a:r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加粗文本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pPr algn="l"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斜体文本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和 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行内代码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，用于测试内联格式的解析。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 引述测试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7.4 长引述（测试跨页）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768096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41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52212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段较长的引述内容，用于测试跨页功能。当引述内容超过单页高度限制时，系统应该能够正确处理分页，确保内容完整显示。引述框的样式应该与代码块有所区别，使用浅蓝色背景和深蓝色边框，而代码块使用浅灰色背景和黑色边框。这样用户可以一眼区分出不同类型的内容块。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 数学公式测试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8.1 块级公式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【二次方程求根公式】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1279" y="1280160"/>
            <a:ext cx="3164586" cy="8063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84297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【定积分】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0348" y="3395777"/>
            <a:ext cx="2206447" cy="7973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508193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【欧拉公式】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4346" y="5493410"/>
            <a:ext cx="1638452" cy="3317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24840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【矩阵】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6563" y="6659880"/>
            <a:ext cx="1214018" cy="8275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40" y="8406384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【求和公式】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 数学公式测试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8.1 块级公式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52726" y="868680"/>
            <a:ext cx="2561692" cy="968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96819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【极限】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1827" y="3308299"/>
            <a:ext cx="2923489" cy="84079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 数学公式测试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8.2 行内公式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【文本中的行内公式】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这是一段包含行内公式 $E = mc^2$ 的文本，公式应该与文字在同一行显示。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8910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【行内公式与混排】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05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根据公式 $\sum_{i=1}^{n} i = \frac{n(n+1)}{2}$，可以计算出前 n 个自然数的和。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0952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【混合公式段落】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921000"/>
            <a:ext cx="5769864" cy="54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 $a \neq 0$ 时，方程 $ax^2 + bx + c = 0$ 的解由公式 $x = \frac{-b \pm \sqrt{b^2 - 4ac}}{2a}$ 给出，其中 $\Delta = b^2 - 4ac$ 称为判别式。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 分页测试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9.1 长段落（触发分页）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1231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个很长的段落，用于测试自动分页功能。在实际使用中，当内容超过单页高度限制时，系统应该自动创建新的幻灯片。这个功能对于处理大量文本内容非常重要。系统会根据内容的实际高度进行智能分页，确保每一页的内容都不会溢出边界。同时，系统还会保持标题的连续性，让读者能够清楚地知道当前内容属于哪个章节。这是第一段内容，用于测试文本的分页逻辑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92020"/>
            <a:ext cx="5769864" cy="774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第二段内容，继续测试长文本的处理。当内容超过内容区高度（约9.3英寸）时，系统应该自动创建新页。每个段落的文字都需要被正确计算高度，包括字体大小、行间距等因素。我们通过连续添加多个段落来确保内容足够长，从而触发分页机制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58160"/>
            <a:ext cx="5769864" cy="774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第三段内容，进一步增加文本总量。在实际的文档转换场景中，经常会遇到超长段落需要分页的情况。系统需要准确计算每一段文字的实际高度，并在适当的位置进行分页，同时保持内容的完整性和可读性。分页算法需要考虑各种内容类型的高度特征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924300"/>
            <a:ext cx="5769864" cy="774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第四段内容，确保整个文本块的高度超过9.3英寸的内容区限制。通过这种方式，我们可以验证分页功能是否正常工作。如果分页逻辑正确，这段内容应该会自动拆分到多张幻灯片中，每张幻灯片的内容都不会溢出边界，且保持良好的视觉效果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790440"/>
            <a:ext cx="5769864" cy="1003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第五段内容，作为长段落测试的最后一部分。通过五个较长的段落，我们已经积累了足够的文本高度来触发分页。接下来系统会自动计算这些内容的总高度，并在适当的位置创建新的幻灯片来容纳剩余内容。这确保了即使是非常长的文档也能被正确转换为多页PPT。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 分页测试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9.2 长列表（触发分页）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5586984" cy="523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1：这是一个较长的列表项，包含了详细的说明文字，用于测试列表的分页功能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2：另一个长列表项，用于测试换行和高度计算，确保列表项能正确分页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3：继续添加更多内容，每个列表项都包含足够的文字来测试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4：测试多行文本的处理，列表项的文字可能会自动换行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5：验证列表的分页功能，当列表超过单页容量时应该自动分页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6：确保所有内容都能正确显示，不会丢失任何列表项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7：继续添加列表项，增加总体高度以触发分页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8：更多的列表项内容，测试系统对大量列表的处理能力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9：每个列表项都需要被正确渲染，包括项目符号和文本内容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10：分页后的列表应该保持原有的样式和格式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11：继续增加列表数量，确保能够超过单页限制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12：测试列表分页时的边界条件处理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13：列表项的文字长度会影响整体高度的计算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14：系统需要准确计算每个列表项占用的垂直空间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15：当累计高度超过内容区高度时，应该触发分页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16：分页后的新页面应该正确显示剩余的列表项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17：继续测试长列表的分页功能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18：确保分页逻辑能够正确处理各种内容组合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19：列表项的样式在分页后应该保持一致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20：最后一个列表项，用于测试列表的完整渲染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 分页测试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9.3 内容恰好填满一页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146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常长的文本段落用于测试内容刚好填满一页的边界情况。这个段落应该足够长，以至于它的高度恰好接近或等于一页幻灯片的内容区域高度。当内容刚好填满一页时，系统不应该错误地创建空白页或者截断内容。这个测试对于确保分页逻辑的正确性非常重要。在实际使用中，用户可能会有一整页的内容，而系统需要精确地计算内容高度，以便在合适的位置进行分页。如果分页逻辑有误，可能会导致内容溢出到下一页的意外空白，或者内容在页面中被截断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20620"/>
            <a:ext cx="5769864" cy="1003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继续添加更多文本来确保这个段落的高度接近但不超过单页限制。这是边界测试的关键部分，需要精确控制内容的总高度。通过添加足够的文字，我们可以验证系统在处理边界情况时的行为是否正确。这种测试有助于发现分页算法中的潜在问题，确保各种边界条件都能被正确处理。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 分页测试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9.4 连续分隔符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第一段内容。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 分页测试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9.4 连续分隔符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第二段内容。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 分页测试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9.4 连续分隔符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第三段内容。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 混合场景测试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10.1 文本 + 代码 + 列表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这是一段说明文字，下面是代码示例：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77620"/>
            <a:ext cx="5769864" cy="1115568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69060"/>
            <a:ext cx="55869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TestClass: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= 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increment(self):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+=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484628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关键要点：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93568"/>
            <a:ext cx="5586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代码应该保持正确的缩进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语法高亮应该正常工作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代码块不应该被截断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 混合场景测试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10.2 表格 + Mermaid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下面是系统架构：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626" y="1277620"/>
            <a:ext cx="4615891" cy="14351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04163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对应的服务清单：</a:t>
            </a:r>
            <a:endParaRPr lang="en-US" sz="12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13103"/>
          <a:ext cx="5769864" cy="914400"/>
        </p:xfrm>
        <a:graphic>
          <a:graphicData uri="http://schemas.openxmlformats.org/drawingml/2006/table">
            <a:tbl>
              <a:tblPr/>
              <a:tblGrid>
                <a:gridCol w="1923288"/>
                <a:gridCol w="1923288"/>
                <a:gridCol w="1923288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服务名称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端口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状态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前端服务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API网关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8080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业务服务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8081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数据服务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8082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 混合场景测试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10.3 引述 + 公式 + 代码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41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以下是综合示例，包含引述、数学公式和代码的混合布局。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0627" y="1399032"/>
            <a:ext cx="3545891" cy="81198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114446"/>
            <a:ext cx="5769864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205886"/>
            <a:ext cx="55869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傅里叶变换实现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fourierTransform(signal)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N = signal.length;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result = [];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(let k = 0; k &lt; N; k++)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 sum =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(let n = 0; n &lt; N; n++)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sum += signal[n] * Math.exp(-2 * Math.PI * k * n / 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result.push(sum);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 混合场景测试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10.4 多级列表 + 表格 + 引述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功能特性列表：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277620"/>
            <a:ext cx="5586984" cy="195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Markdown 解析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PPT 生成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多布局支持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高级功能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Mermaid 图表渲染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LaTeX 公式支持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智能分页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32486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资源需求表：</a:t>
            </a:r>
            <a:endParaRPr lang="en-US" sz="12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33800"/>
          <a:ext cx="5769864" cy="914400"/>
        </p:xfrm>
        <a:graphic>
          <a:graphicData uri="http://schemas.openxmlformats.org/drawingml/2006/table">
            <a:tbl>
              <a:tblPr/>
              <a:tblGrid>
                <a:gridCol w="1923288"/>
                <a:gridCol w="1923288"/>
                <a:gridCol w="1923288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资源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最低配置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推荐配置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双核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四核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4GB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8GB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磁盘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500MB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1GB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892040"/>
            <a:ext cx="5769864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4965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502920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以上配置要求仅供参考，实际需求可能因文档复杂度而异。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 总结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本测试文档覆盖了以下功能点：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77620"/>
            <a:ext cx="5586984" cy="317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基础文本格式（加粗、斜体、代码、转义、链接）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列表（有序、无序、嵌套、大量项）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标题层级（2-5级、空内容过滤）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代码块（Python/JS/HTML/SQL/JSON、超10行截断）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表格（简单、复杂、内联格式、跨页）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Mermaid 图表（流程图、时序图、类图、状态图、甘特图、饼图、思维导图、降级占位）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引述（简单、多行、内联格式、长引述跨页）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数学公式（块级公式、行内公式）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分页（长段落、长列表、正好填满一页、连续分隔符）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混合场景（文本+代码+列表、表格+Mermaid、引述+公式+代码、多级列表+表格+引述）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边界与特殊字符（转义、CJK混排、超长单词、中英文混排）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54406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预期覆盖度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: 约 95%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95300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SVG 可编辑测试说明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5361940"/>
            <a:ext cx="5586984" cy="939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6.1 简单流程图：3个节点，应转为可编辑形状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6.2 中等复杂度流程图：5个节点，应转为可编辑形状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6.3 复杂流程图：包含子图，应使用 SVG 图片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6.4 时序图：根据复杂度自动判断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2026-04-25T17:19:58Z</dcterms:created>
  <dcterms:modified xsi:type="dcterms:W3CDTF">2026-04-25T17:19:58Z</dcterms:modified>
</cp:coreProperties>
</file>